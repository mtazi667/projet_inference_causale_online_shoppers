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bdebf468284631" /><Relationship Type="http://schemas.openxmlformats.org/officeDocument/2006/relationships/extended-properties" Target="/docProps/app.xml" Id="Rfe0e98c1fc2f4540" /><Relationship Type="http://schemas.openxmlformats.org/officeDocument/2006/relationships/officeDocument" Target="/ppt/presentation.xml" Id="R5466e26f95da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7b933828f4148"/>
  </p:sldMasterIdLst>
  <p:notesMasterIdLst>
    <p:notesMasterId xmlns:r="http://schemas.openxmlformats.org/officeDocument/2006/relationships" r:id="Rcf17b0b4924448e2"/>
  </p:notesMasterIdLst>
  <p:sldIdLst>
    <p:sldId xmlns:r="http://schemas.openxmlformats.org/officeDocument/2006/relationships" id="256" r:id="Ra42f31e3066d4de5"/>
    <p:sldId xmlns:r="http://schemas.openxmlformats.org/officeDocument/2006/relationships" id="257" r:id="R0af6d6d84feb44a3"/>
    <p:sldId xmlns:r="http://schemas.openxmlformats.org/officeDocument/2006/relationships" id="258" r:id="R1d08661c251e4c29"/>
    <p:sldId xmlns:r="http://schemas.openxmlformats.org/officeDocument/2006/relationships" id="259" r:id="R0874d7c8b3494d69"/>
    <p:sldId xmlns:r="http://schemas.openxmlformats.org/officeDocument/2006/relationships" id="260" r:id="Re61f11a5320b4e29"/>
    <p:sldId xmlns:r="http://schemas.openxmlformats.org/officeDocument/2006/relationships" id="261" r:id="R8dab34f9e0fd4c62"/>
    <p:sldId xmlns:r="http://schemas.openxmlformats.org/officeDocument/2006/relationships" id="262" r:id="Rd24495686bea4d2f"/>
    <p:sldId xmlns:r="http://schemas.openxmlformats.org/officeDocument/2006/relationships" id="263" r:id="R4a0b337ac9864a69"/>
    <p:sldId xmlns:r="http://schemas.openxmlformats.org/officeDocument/2006/relationships" id="264" r:id="R00771d0c0f8a4cce"/>
    <p:sldId xmlns:r="http://schemas.openxmlformats.org/officeDocument/2006/relationships" id="265" r:id="R1ac2a4b4302c4d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4579073014c14" /><Relationship Type="http://schemas.openxmlformats.org/officeDocument/2006/relationships/slideMaster" Target="/ppt/slideMasters/slideMaster1.xml" Id="Ra707b933828f4148" /><Relationship Type="http://schemas.openxmlformats.org/officeDocument/2006/relationships/notesMaster" Target="/ppt/notesMasters/notesMaster1.xml" Id="Rcf17b0b4924448e2" /><Relationship Type="http://schemas.openxmlformats.org/officeDocument/2006/relationships/presProps" Target="/ppt/presProps.xml" Id="Raa4d037a443d4ba0" /><Relationship Type="http://schemas.openxmlformats.org/officeDocument/2006/relationships/tableStyles" Target="/ppt/tableStyles.xml" Id="R75766ef9bb054594" /><Relationship Type="http://schemas.openxmlformats.org/officeDocument/2006/relationships/slide" Target="/ppt/slides/slide1.xml" Id="Ra42f31e3066d4de5" /><Relationship Type="http://schemas.openxmlformats.org/officeDocument/2006/relationships/slide" Target="/ppt/slides/slide2.xml" Id="R0af6d6d84feb44a3" /><Relationship Type="http://schemas.openxmlformats.org/officeDocument/2006/relationships/slide" Target="/ppt/slides/slide3.xml" Id="R1d08661c251e4c29" /><Relationship Type="http://schemas.openxmlformats.org/officeDocument/2006/relationships/slide" Target="/ppt/slides/slide4.xml" Id="R0874d7c8b3494d69" /><Relationship Type="http://schemas.openxmlformats.org/officeDocument/2006/relationships/slide" Target="/ppt/slides/slide5.xml" Id="Re61f11a5320b4e29" /><Relationship Type="http://schemas.openxmlformats.org/officeDocument/2006/relationships/slide" Target="/ppt/slides/slide6.xml" Id="R8dab34f9e0fd4c62" /><Relationship Type="http://schemas.openxmlformats.org/officeDocument/2006/relationships/slide" Target="/ppt/slides/slide7.xml" Id="Rd24495686bea4d2f" /><Relationship Type="http://schemas.openxmlformats.org/officeDocument/2006/relationships/slide" Target="/ppt/slides/slide8.xml" Id="R4a0b337ac9864a69" /><Relationship Type="http://schemas.openxmlformats.org/officeDocument/2006/relationships/slide" Target="/ppt/slides/slide9.xml" Id="R00771d0c0f8a4cce" /><Relationship Type="http://schemas.openxmlformats.org/officeDocument/2006/relationships/slide" Target="/ppt/slides/slide10.xml" Id="R1ac2a4b4302c4d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799ba684b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académique">
  <a:themeElements>
    <a:clrScheme name="Thème académiqu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ème académiq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fb04089d84b28" /><Relationship Type="http://schemas.openxmlformats.org/officeDocument/2006/relationships/notesMaster" Target="/ppt/notesMasters/notesMaster1.xml" Id="R87d93bd02ff94a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3a115a51e413c" /><Relationship Type="http://schemas.openxmlformats.org/officeDocument/2006/relationships/notesMaster" Target="/ppt/notesMasters/notesMaster1.xml" Id="Ra11efb447aed4d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6426211054e01" /><Relationship Type="http://schemas.openxmlformats.org/officeDocument/2006/relationships/notesMaster" Target="/ppt/notesMasters/notesMaster1.xml" Id="Rf533904b76d743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9e8c46e2f43d4" /><Relationship Type="http://schemas.openxmlformats.org/officeDocument/2006/relationships/notesMaster" Target="/ppt/notesMasters/notesMaster1.xml" Id="Rdb55677ad03549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5ba6b71ad54943" /><Relationship Type="http://schemas.openxmlformats.org/officeDocument/2006/relationships/notesMaster" Target="/ppt/notesMasters/notesMaster1.xml" Id="Rc5e934ac54f2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6b43986ef74c2c" /><Relationship Type="http://schemas.openxmlformats.org/officeDocument/2006/relationships/notesMaster" Target="/ppt/notesMasters/notesMaster1.xml" Id="Ra3baa42c25cc4a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921c5a8ff64acd" /><Relationship Type="http://schemas.openxmlformats.org/officeDocument/2006/relationships/notesMaster" Target="/ppt/notesMasters/notesMaster1.xml" Id="R62f650fd059b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e8c03e17b4de8" /><Relationship Type="http://schemas.openxmlformats.org/officeDocument/2006/relationships/notesMaster" Target="/ppt/notesMasters/notesMaster1.xml" Id="R28e56fc2ab9045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08f6aba13d4c56" /><Relationship Type="http://schemas.openxmlformats.org/officeDocument/2006/relationships/notesMaster" Target="/ppt/notesMasters/notesMaster1.xml" Id="R2710a71f7db340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1de159fd7946fb" /><Relationship Type="http://schemas.openxmlformats.org/officeDocument/2006/relationships/notesMaster" Target="/ppt/notesMasters/notesMaster1.xml" Id="Rc47516247f1b4e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138a00990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1c744cd4941b8" /><Relationship Type="http://schemas.openxmlformats.org/officeDocument/2006/relationships/slideLayout" Target="/ppt/slideLayouts/slideLayout1.xml" Id="R3e6eded2a57f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eded2a57f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académique">
  <a:themeElements>
    <a:clrScheme name="Thème académiqu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ème académiq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5004bf2e84ed8" /><Relationship Type="http://schemas.openxmlformats.org/officeDocument/2006/relationships/image" Target="/ppt/media/image.png" Id="Ra3511868c4ab41bf" /><Relationship Type="http://schemas.openxmlformats.org/officeDocument/2006/relationships/notesSlide" Target="/ppt/notesSlides/notesSlide1.xml" Id="R099e949c7d8f4d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bf50e20c641bc" /><Relationship Type="http://schemas.openxmlformats.org/officeDocument/2006/relationships/image" Target="/ppt/media/image2.png" Id="R542d9356bd9046ab" /><Relationship Type="http://schemas.openxmlformats.org/officeDocument/2006/relationships/notesSlide" Target="/ppt/notesSlides/notesSlide2.xml" Id="R65377c06e47c4d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0cb938c744e6a" /><Relationship Type="http://schemas.openxmlformats.org/officeDocument/2006/relationships/image" Target="/ppt/media/image3.png" Id="R0270dc0b4e874b5f" /><Relationship Type="http://schemas.openxmlformats.org/officeDocument/2006/relationships/notesSlide" Target="/ppt/notesSlides/notesSlide3.xml" Id="R340a3c4ddb2249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098a31976454f" /><Relationship Type="http://schemas.openxmlformats.org/officeDocument/2006/relationships/image" Target="/ppt/media/image4.png" Id="R75e4b00fb6be4085" /><Relationship Type="http://schemas.openxmlformats.org/officeDocument/2006/relationships/notesSlide" Target="/ppt/notesSlides/notesSlide4.xml" Id="R2b6bf51479174c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2d307a43344f3" /><Relationship Type="http://schemas.openxmlformats.org/officeDocument/2006/relationships/notesSlide" Target="/ppt/notesSlides/notesSlide5.xml" Id="Rcf30052c3d6540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c0022847415b" /><Relationship Type="http://schemas.openxmlformats.org/officeDocument/2006/relationships/image" Target="/ppt/media/image5.png" Id="R3c1f66d7aea4443c" /><Relationship Type="http://schemas.openxmlformats.org/officeDocument/2006/relationships/notesSlide" Target="/ppt/notesSlides/notesSlide6.xml" Id="Rbda89965c7104f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d0f1cf090458d" /><Relationship Type="http://schemas.openxmlformats.org/officeDocument/2006/relationships/image" Target="/ppt/media/image6.png" Id="R328749b6f6aa4054" /><Relationship Type="http://schemas.openxmlformats.org/officeDocument/2006/relationships/notesSlide" Target="/ppt/notesSlides/notesSlide7.xml" Id="R22c04b5ad89446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25815418a4e05" /><Relationship Type="http://schemas.openxmlformats.org/officeDocument/2006/relationships/image" Target="/ppt/media/image7.png" Id="Rde230ce1ecb74c58" /><Relationship Type="http://schemas.openxmlformats.org/officeDocument/2006/relationships/notesSlide" Target="/ppt/notesSlides/notesSlide8.xml" Id="R32ade26e401247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32b425b1340eb" /><Relationship Type="http://schemas.openxmlformats.org/officeDocument/2006/relationships/image" Target="/ppt/media/image8.png" Id="R50e43adf60c04d9a" /><Relationship Type="http://schemas.openxmlformats.org/officeDocument/2006/relationships/notesSlide" Target="/ppt/notesSlides/notesSlide9.xml" Id="R68ca61ffd52346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b0271d6be4abb" /><Relationship Type="http://schemas.openxmlformats.org/officeDocument/2006/relationships/notesSlide" Target="/ppt/notesSlides/notesSlide10.xml" Id="R618b288f0f454e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9B65B-DAA0-40F1-9248-A65D357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A2604-B673-4CE1-9E27-C40EE733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PROJET FINAL  •  INFÉRENCE CAUSALE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98CA38F-F037-4AF2-86FA-8A2D298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Weekend et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achat en ligne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4A106-E3C9-437E-949E-71850DB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Une association positive,</a:t>
            </a:r>
          </a:p>
          <a:p xmlns:a="http://schemas.openxmlformats.org/drawingml/2006/main">
            <a:pPr algn="l">
              <a:defRPr sz="21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 effet causal incertain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90468-084A-472E-A7DA-BFC70664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Jeu UCI Online Shoppers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Juillet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CF6C2-EB4E-4705-9FCD-AC29B42D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"/>
            <a:ext cx="561975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11868c4ab41bf"/>
          <a:stretch xmlns:a="http://schemas.openxmlformats.org/drawingml/2006/main"/>
        </p:blipFill>
        <p:spPr>
          <a:xfrm xmlns:a="http://schemas.openxmlformats.org/drawingml/2006/main">
            <a:off x="6191250" y="1720732"/>
            <a:ext cx="5200650" cy="292123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50F0-168F-4730-8B19-EF3431F4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0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Association descriptive, échantillon complet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7F913-6A3A-4A63-8303-DC27955E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5867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8BE074D-C43E-4CAD-9EEB-6EAB6D08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L’effet visé concerne la conversion d’une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21AED-38C3-4640-82B5-EC7BA97D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QUESTION CAUSALE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E6455-E23F-472B-9C09-FB9E22C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Quel serait l’effet moyen d’une session durant le weekend plutôt qu’en semaine sur la probabilité d’achat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1481D-5BE0-4D56-88A5-28D8723A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44778-B8AC-42ED-A197-0BE4588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12 330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9A40A-A678-4275-86B0-EBAE4DC6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099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sessions UCI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une session = un utilisateur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AD849-5636-4EB9-A673-E5A28994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T = Weekend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00A8F-1A8C-494A-9633-1FED1BC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29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Y =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79518-75BC-43C2-8153-DC2D9BE2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Cible : SpecialDay = 0  •  N = 11 079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959E1-3E25-4ADC-BDFA-C4A86E09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Intervention hypothétique, définie parmi les sessions existantes.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d9356bd9046ab"/>
          <a:stretch xmlns:a="http://schemas.openxmlformats.org/drawingml/2006/main"/>
        </p:blipFill>
        <p:spPr>
          <a:xfrm xmlns:a="http://schemas.openxmlformats.org/drawingml/2006/main">
            <a:off x="4762500" y="2262340"/>
            <a:ext cx="6781800" cy="284767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E264D-8A83-4071-B762-72BC66E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32FE9DFD-77F0-4198-AFD1-92120763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 : UCI, DOI 10.24432/C5F88Q ; résultats du notebook exécuté</a:t>
            </a:r>
          </a:p>
        </p:txBody>
      </p:sp>
      <p:sp>
        <p:nvSpPr>
          <p:cNvPr id="1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D9F7E0A5-3716-4392-A314-9D8CF22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4133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024BE89-DDA3-427F-9C50-73826C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DAG : les variables post-traitement sont exclues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0dc0b4e874b5f"/>
          <a:stretch xmlns:a="http://schemas.openxmlformats.org/drawingml/2006/main"/>
        </p:blipFill>
        <p:spPr>
          <a:xfrm xmlns:a="http://schemas.openxmlformats.org/drawingml/2006/main">
            <a:off x="970221" y="1200150"/>
            <a:ext cx="10251557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F7B67-C83D-43FA-BCF3-14FB5D7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4A324-994A-4092-91A3-F2C33E1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Ajuster : calendrier, profil, trafic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4C4C2-EAFB-42F6-8BE1-81360C96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483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Exclure : navigation,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PageValues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E1B82-30CE-4D75-A657-DBE9003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Non observé : promotions, prix,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DF51D-9C0D-422C-A020-979F588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AEB49BF4-3CA0-416E-B1AA-8F54ADE4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9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14C5A10-664A-48D5-9F57-442661C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4639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3B7CF6F-F941-49F5-A076-FD56CBC9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FCI ne relie pas directement Weekend à Revenue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4b00fb6be4085"/>
          <a:stretch xmlns:a="http://schemas.openxmlformats.org/drawingml/2006/main"/>
        </p:blipFill>
        <p:spPr>
          <a:xfrm xmlns:a="http://schemas.openxmlformats.org/drawingml/2006/main">
            <a:off x="457200" y="1535793"/>
            <a:ext cx="7810500" cy="426266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AD2B5-1232-467E-B7C4-0E1C4F8C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90650"/>
            <a:ext cx="3028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FC194-3676-4870-83CA-204C81EB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Analyse exploratoire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623C7-7FAA-4367-95A7-46D3284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57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 variables regroupées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G², seuil 1 %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Contraintes temporelles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FCI autorise des latents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89396-2B1D-4092-AF8C-8C08BE24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30289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5D16D-954F-483F-A1D4-4EA9F854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Lecture prudente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46273-7E5F-4954-B470-97D18D98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2571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FCI reste exploratoire : le DAG raisonné sert à l’identification. L’absence d’arête directe persiste aux trois seuils, sans prouver un effet nul.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30B51-987B-4B57-9EEE-61257284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068D3D31-6456-4B35-AA04-E47D2406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11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98294358-FAA6-443F-9570-2DBC05C8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517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97AFA46-A024-44F0-9837-55EC1E44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Cadre Pearl/Rubin : ajustement backdoor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CFE20-8C22-47B8-BD45-9F6B27F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4972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6F4B1-3B4C-4078-A86F-B04BAEC2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Cadre Pearl/Rubin — cible SpecialDay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D968D-A650-40F4-95F5-6C317A5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τ₀ = E[Y(1) − Y(0) | SpecialDay = 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038A8-080D-4A3A-90A4-967155B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 = {Month, VisitorType, Region,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OperatingSystems, Browser, TrafficType}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809FF-7BB0-4163-9B05-C04F1D3B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14450"/>
            <a:ext cx="5791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392DD-EF0C-4EC2-8D61-690B4CC2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Hypothèses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8E44-338E-4AA6-9847-A0BA723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5219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Consistance de l’intervention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Échangeabilité conditionnelle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Positivité et support commun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Absence d’interférence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0131C-BA3C-45E2-B3C2-8109E8E3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Quatre regards sur le même contraste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CF7F-033B-412B-944F-5B7AA16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95775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39825-F31F-4BB7-9DEE-68FCC67A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F6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075FA-FD6C-4903-A3FA-89A663DA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91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16648-0BF2-4D39-8AA2-2B7A1C5C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815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Différence de taux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8D17D-5E73-46B3-BC53-ED8EABC9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91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F6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8F84A-FF2B-40BB-9CC8-83579AD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91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Standardisation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259B7-899E-4BB9-94A0-D3E8DC03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815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Modèle du résultat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463AE-7435-465D-8388-BCB4B8D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91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F6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4CE9B-CC71-4348-8E73-67550DD3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91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IPW de Hájek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A0C7D-1BB4-4DAE-A542-8E63F138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815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Modèle du traitement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249A3-B157-4F11-A1C4-907DE11C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91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8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8170E-EFA9-4C27-A2AC-728D837E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91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AIPW principal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180E2-EC29-4D31-BD7C-9A32405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815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Deux modèles + cross-fitting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EDEFD-97A2-4BF0-841E-0D32FBE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L’interprétation causale dépend d’hypothèses non testables, surtout l’échangeabilité.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8D677-6D6B-4881-B130-15A13D77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7726CEF2-DCD9-46CF-BC0F-20982E58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26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02CB3777-C208-44BB-8DC8-14E4B8D5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3277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ECB97C4-1669-4006-9471-7F7B8350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Scores de propension : recouvrement satisfaisant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f66d7aea4443c"/>
          <a:stretch xmlns:a="http://schemas.openxmlformats.org/drawingml/2006/main"/>
        </p:blipFill>
        <p:spPr>
          <a:xfrm xmlns:a="http://schemas.openxmlformats.org/drawingml/2006/main">
            <a:off x="400050" y="1568443"/>
            <a:ext cx="7715250" cy="42735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273E6-46CC-4B3C-8A10-106D8BA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3124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8A38-CAAA-4B3E-8C09-41EC1A1D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0,05 à 0,92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A76E1-1583-480C-8E9E-BF948AC1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étendue estimée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5CF81-3D84-428B-8CE5-4F87EF6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3124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76585-67FD-4444-9388-010731C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528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12473-15D4-4D58-89FE-3FAFB93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185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observations sous 0,05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 au-dessus de 0,95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9B388-25C2-4B0E-8B88-939C1C8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312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 recouvrement mesuré soutient la positivité dans la population restreinte; il ne renseigne pas sur la confusion cachée.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A7AFA-1266-454E-9679-20551D9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04DF3A48-AB12-419E-928F-4FD4F07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1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0D03F2A5-F353-4F46-9FA2-C44DE15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9904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9E93D72-2DEB-444C-88EC-D4A18899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IPW : les covariables observées sont équilibrées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749b6f6aa4054"/>
          <a:stretch xmlns:a="http://schemas.openxmlformats.org/drawingml/2006/main"/>
        </p:blipFill>
        <p:spPr>
          <a:xfrm xmlns:a="http://schemas.openxmlformats.org/drawingml/2006/main">
            <a:off x="1475474" y="1238250"/>
            <a:ext cx="5697752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89E06-F85B-4AE9-8DE0-6DCD52F7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020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05E90-088B-4497-BA4E-A8365226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4A24B"/>
                </a:solidFill>
                <a:latin typeface="Arial"/>
                <a:ea typeface="Arial"/>
                <a:cs typeface="Arial"/>
              </a:rPr>
              <a:t>0,268 → 0,040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7B45B-161D-43D8-AA7B-FD78D3F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SMD absolu maximal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avant puis après IPW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0A5E5-DE50-4736-A3C7-912592A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3143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7F4E4-2B0A-4FD6-BE60-31F5465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33800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8CB0E-3FE1-433A-A46A-2E830E57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147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modalité dépassant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|SMD| = 0,10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après pondération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DB347-4A54-4330-BC9B-A7B748CB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Équilibre vérifié seulement sur les covariables observées.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64353-5E5A-45AE-98DB-5970E94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15D4D921-9AC8-4E7A-AAC6-52B3A40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1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6BBEFF40-BF76-4229-86F2-342465C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6539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5F157D2-5180-4320-B164-1A77C13D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AIPW : +1,51 point, mais l’IC 95 % inclut zéro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30ce1ecb74c58"/>
          <a:stretch xmlns:a="http://schemas.openxmlformats.org/drawingml/2006/main"/>
        </p:blipFill>
        <p:spPr>
          <a:xfrm xmlns:a="http://schemas.openxmlformats.org/drawingml/2006/main">
            <a:off x="457200" y="1594379"/>
            <a:ext cx="7524750" cy="416454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57F4A-49C1-4A3F-9096-2FC6924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2956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B2DD0-BAF5-4B4A-B46C-67C44F0E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57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+1,51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53644-2A05-43D0-BA0F-E76CE70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AIPW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A9E0E-D5B3-427D-B988-44F9E84F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IC 95 % : [−0,18 ; 3,19]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BCF2C-9FEC-40DB-A44F-E289B518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295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81357-D052-445A-AB28-C359ADE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Moyennes potentielles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5B7BD-1D5A-4B23-8E5F-F3BFAAF9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17,67 %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2B4D5-98C7-4991-B297-ED0C0F55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weekend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BF460-9DC0-4325-8C82-C72BC81F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95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16,16 %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3893B-B87B-4BA2-AB6A-4B05200C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52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semaine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1D59D-6967-49D0-B4E2-E241070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530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Estimateurs ajustés : 1,38 à 1,51 point. L’IC principal contient zéro.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EC63E-9E32-444D-98FB-CE9E4DE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E8170C38-A552-4D1E-B76E-B88B240F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16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26026566-A6C2-46E1-A9D8-4C6AA7A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4116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7D90F82-85FC-46C6-83A9-ADF937A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0" rIns="3810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Robustesse : l’amplitude varie, pas la prudence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43adf60c04d9a"/>
          <a:stretch xmlns:a="http://schemas.openxmlformats.org/drawingml/2006/main"/>
        </p:blipFill>
        <p:spPr>
          <a:xfrm xmlns:a="http://schemas.openxmlformats.org/drawingml/2006/main">
            <a:off x="400050" y="1526760"/>
            <a:ext cx="7239000" cy="435693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927CD-A7B6-4D19-A5FE-F829BA7C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95400"/>
            <a:ext cx="3657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D204C-B33B-4659-A23C-01F6FD5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66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Ce qui varie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7F275-4D56-4769-8A80-BC29B043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314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Logistiques : 1,20 à 2,23 points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Sans TrafficType : 2,23 [0,54 ; 3,93]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Forêt : 1,74 [0,12 ; 3,35]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E-value : 1,41; borne de l’IC : 1,00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3C661-9F5C-4063-B0B7-6A35C6F6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657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70152-C4A9-40F8-9266-F3BA6CF8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Ce qui limite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EFDBC-B6BC-40BD-81AA-BD58796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Weekend non assigné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Promotions, prix et intention absents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TrafficType : confondeur ou médiateur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Site et catégories anonymes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EC03B-F71F-4F97-82D8-B61D8FAC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E974A112-3197-4470-BB09-B9B89D87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Résultats du notebook exécuté</a:t>
            </a:r>
          </a:p>
        </p:txBody>
      </p:sp>
      <p:sp>
        <p:nvSpPr>
          <p:cNvPr id="11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6E9334BB-C2DB-4056-8220-622F4336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6980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5BED4-D743-407E-875C-D4EC4AFA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AE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D9FD62C7-1D5C-4F74-873A-33142EA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Les données suggèrent un faible contraste positif,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sans établir un effet causal différent de zéro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7B11D-DA91-496C-83BC-4BACA5DF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0B4BB-59A4-4627-B108-312D1B1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INTERPRÉTATION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54302-FA56-4056-894F-3E869E9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Estimation exploratoire et conditionnelle aux hypothèses.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AIPW : +1,51 point ; IC 95 % [−0,18 ; 3,19].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9A778-1973-4E43-8BCC-F146BAF3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A24B"/>
                </a:solidFill>
                <a:latin typeface="Arial"/>
                <a:ea typeface="Arial"/>
                <a:cs typeface="Arial"/>
              </a:rPr>
              <a:t>REPRODUCTIBILITÉ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0D210-0FC7-49F5-BEF3-F8E6E86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242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CSV UCI + SHA-256 vérifié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Graine 20260715 • cross-fitting à 5 plis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Figures, tableaux et dépendances documentés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CBCBA-372C-45E8-A90C-08208D81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FAB02-41EE-410B-B266-529C7429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 DAG et les diagnostics rendent les hypothèses explicites; ils ne compensent pas les variables absentes des données observationnelles.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81B75-7499-48BB-BC61-5EA0384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Références : UCI C5F88Q • Sakar et al. (2019) • Bang et Robins (2005)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Pearl (2009) • Spirtes et al. (2000) • VanderWeele et Ding (2017)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C17EA-0263-48E1-87A9-2C55020A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9995112"/>
      </p:ext>
    </p:extLst>
  </p:cSld>
</p:sld>
</file>

<file path=ppt/theme/theme1.xml><?xml version="1.0" encoding="utf-8"?>
<a:theme xmlns:a="http://schemas.openxmlformats.org/drawingml/2006/main" name="Thème académique">
  <a:themeElements>
    <a:clrScheme name="Thème académiqu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ème académiq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Présentation à l’écran (16:9)</ap:PresentationFormat>
  <ap:Slides>10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Projet d’inférence causale</dc:creator>
  <lastModifiedBy>Projet d’inférence causale</lastModifiedBy>
  <dc:title>Présentation finale - inférence causale Online Shoppers</dc:title>
  <dcterms:created xsi:type="dcterms:W3CDTF">2026-07-15T14:18:09.1600000Z</dcterms:created>
  <dcterms:modified xsi:type="dcterms:W3CDTF">2026-07-15T14:18:09.1600000Z</dcterms:modified>
</coreProperties>
</file>